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0"/>
            <a:ext cx="7772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专线特检增长复盘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65176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CCE8EE"/>
                </a:solidFill>
              </a:defRPr>
            </a:pPr>
            <a:r>
              <a:t>与可复制销售执行范本（重构版）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2026年1–5月经营复盘  ·  组织与客户分层调整  ·  执行范本</a:t>
            </a:r>
          </a:p>
          <a:p>
            <a:pPr>
              <a:defRPr sz="1400">
                <a:solidFill>
                  <a:srgbClr val="FFFFFF"/>
                </a:solidFill>
              </a:defRPr>
            </a:pP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+152.7万 同比净增 (+6.8%)  |  41家重点客户贡献全部净增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普特共管两轮聚焦：204家 → 71家（重点41家）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0">
                <a:solidFill>
                  <a:srgbClr val="FFFFFF"/>
                </a:solidFill>
              </a:defRPr>
            </a:pPr>
            <a:r>
              <a:t>杭州公司 · 专线特检经营复盘  |  第一部分 · 结论先行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365D"/>
                </a:solidFill>
              </a:defRPr>
            </a:pPr>
            <a:r>
              <a:t>执行摘要：增长可被拆解、可被复制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666666"/>
                </a:solidFill>
              </a:defRPr>
            </a:pPr>
            <a:r>
              <a:t>核心结论：1–5月专线特检净增152.7万（+6.8%），增长几乎全部来自41家重点客户。</a:t>
            </a:r>
          </a:p>
          <a:p>
            <a:pPr>
              <a:spcAft>
                <a:spcPts val="800"/>
              </a:spcAft>
              <a:defRPr sz="1400">
                <a:solidFill>
                  <a:srgbClr val="666666"/>
                </a:solidFill>
              </a:defRPr>
            </a:pPr>
            <a:r>
              <a:t>增长公式：重点客户 × 高价值项目 × 标准动作 × 月度复盘。</a:t>
            </a:r>
          </a:p>
          <a:p>
            <a:pPr>
              <a:spcAft>
                <a:spcPts val="800"/>
              </a:spcAft>
              <a:defRPr sz="1400">
                <a:solidFill>
                  <a:srgbClr val="666666"/>
                </a:solidFill>
              </a:defRPr>
            </a:pPr>
            <a:r>
              <a:t>三个问题：客户从哪来？→ 41家引擎，Top5占43%。项目靠什么？→ 血液类+43%。动作怎么做？→ 中标·渗透·渠道·上量。</a:t>
            </a:r>
          </a:p>
          <a:p>
            <a:pPr>
              <a:spcAft>
                <a:spcPts val="800"/>
              </a:spcAft>
              <a:defRPr sz="1400">
                <a:solidFill>
                  <a:srgbClr val="666666"/>
                </a:solidFill>
              </a:defRPr>
            </a:pPr>
            <a:r>
              <a:t>组织配套：两轮普特共管聚焦调整，释放代表精力，支撑41家专人专管。</a:t>
            </a:r>
          </a:p>
          <a:p>
            <a:pPr>
              <a:spcAft>
                <a:spcPts val="800"/>
              </a:spcAft>
              <a:defRPr sz="1400">
                <a:solidFill>
                  <a:srgbClr val="666666"/>
                </a:solidFill>
              </a:defRPr>
            </a:pPr>
            <a:r>
              <a:t>关键数字：2411万销售 | 93.85%达成率（未达标）| 毛增666.6万 / 侵蚀513.9万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0">
                <a:solidFill>
                  <a:srgbClr val="FFFFFF"/>
                </a:solidFill>
              </a:defRPr>
            </a:pPr>
            <a:r>
              <a:t>杭州公司 · 专线特检经营复盘  |  第二部分 · 业绩诊断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365D"/>
                </a:solidFill>
              </a:defRPr>
            </a:pPr>
            <a:r>
              <a:t>增量瀑布：毛增666.6万，净增152.7万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666666"/>
                </a:solidFill>
              </a:defRPr>
            </a:pPr>
            <a:r>
              <a:t>增长杠杆：上量+314.6万 | 25年开发+183.6万 | 26年开发+168.3万</a:t>
            </a:r>
          </a:p>
          <a:p>
            <a:pPr>
              <a:spcAft>
                <a:spcPts val="800"/>
              </a:spcAft>
              <a:defRPr sz="1400">
                <a:solidFill>
                  <a:srgbClr val="666666"/>
                </a:solidFill>
              </a:defRPr>
            </a:pPr>
            <a:r>
              <a:t>侵蚀项：客户丢失-175.3万 | 折扣下降-129.7万 | 门诊下降-96.5万 | 项目回收-70.0万 | 一过性-46.2万</a:t>
            </a:r>
          </a:p>
          <a:p>
            <a:pPr>
              <a:spcAft>
                <a:spcPts val="800"/>
              </a:spcAft>
              <a:defRPr sz="1400">
                <a:solidFill>
                  <a:srgbClr val="666666"/>
                </a:solidFill>
              </a:defRPr>
            </a:pPr>
            <a:r>
              <a:t>读法：开发+上量合计+666.6万毛增，但流失/降价吃掉近八成。守量与开发同等重要。</a:t>
            </a:r>
          </a:p>
          <a:p>
            <a:pPr>
              <a:spcAft>
                <a:spcPts val="800"/>
              </a:spcAft>
              <a:defRPr sz="1400">
                <a:solidFill>
                  <a:srgbClr val="666666"/>
                </a:solidFill>
              </a:defRPr>
            </a:pPr>
            <a:r>
              <a:t>另含结算价纠错+3.8万；八项经营性驱动+148.8万，加纠错后净增152.7万。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0">
                <a:solidFill>
                  <a:srgbClr val="FFFFFF"/>
                </a:solidFill>
              </a:defRPr>
            </a:pPr>
            <a:r>
              <a:t>杭州公司 · 专线特检经营复盘  |  第二部分 · 业绩诊断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365D"/>
                </a:solidFill>
              </a:defRPr>
            </a:pPr>
            <a:r>
              <a:t>根本原因：增量结构与侵蚀项拆解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666666"/>
                </a:solidFill>
              </a:defRPr>
            </a:pPr>
            <a:r>
              <a:t>上量+314.6万：浙大儿院转录组、杭州一院全外/NIPT-PLUS等存量深挖。</a:t>
            </a:r>
          </a:p>
          <a:p>
            <a:pPr>
              <a:spcAft>
                <a:spcPts val="800"/>
              </a:spcAft>
              <a:defRPr sz="1400">
                <a:solidFill>
                  <a:srgbClr val="666666"/>
                </a:solidFill>
              </a:defRPr>
            </a:pPr>
            <a:r>
              <a:t>开发+352万：迈顺/华大等渠道新签 + 海宁人民/津熙等26年新签。</a:t>
            </a:r>
          </a:p>
          <a:p>
            <a:pPr>
              <a:spcAft>
                <a:spcPts val="800"/>
              </a:spcAft>
              <a:defRPr sz="1400">
                <a:solidFill>
                  <a:srgbClr val="666666"/>
                </a:solidFill>
              </a:defRPr>
            </a:pPr>
            <a:r>
              <a:t>流失-175.3万：嘉兴中医/嘉兴妇幼/海盐人民三家占全部丢失65%。</a:t>
            </a:r>
          </a:p>
          <a:p>
            <a:pPr>
              <a:spcAft>
                <a:spcPts val="800"/>
              </a:spcAft>
              <a:defRPr sz="1400">
                <a:solidFill>
                  <a:srgbClr val="666666"/>
                </a:solidFill>
              </a:defRPr>
            </a:pPr>
            <a:r>
              <a:t>折扣+回收-199.7万：新昌折扣降8点、红会宏基因转迪安等，需合同与开票纠偏。</a:t>
            </a:r>
          </a:p>
          <a:p>
            <a:pPr>
              <a:spcAft>
                <a:spcPts val="800"/>
              </a:spcAft>
              <a:defRPr sz="1400">
                <a:solidFill>
                  <a:srgbClr val="666666"/>
                </a:solidFill>
              </a:defRPr>
            </a:pPr>
            <a:r>
              <a:t>渠道验证：华大+津熙渠道新客合计+40.3万，第三方打法可复制。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0">
                <a:solidFill>
                  <a:srgbClr val="FFFFFF"/>
                </a:solidFill>
              </a:defRPr>
            </a:pPr>
            <a:r>
              <a:t>杭州公司 · 专线特检经营复盘  |  第三部分 · 客户维度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365D"/>
                </a:solidFill>
              </a:defRPr>
            </a:pPr>
            <a:r>
              <a:t>客户来源（一）：三大增长杠杆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666666"/>
                </a:solidFill>
              </a:defRPr>
            </a:pPr>
            <a:r>
              <a:t>+314.6万 存量上量（占毛增47%）：院内加项目、加送检量，最大增长块。</a:t>
            </a:r>
          </a:p>
          <a:p>
            <a:pPr>
              <a:spcAft>
                <a:spcPts val="800"/>
              </a:spcAft>
              <a:defRPr sz="1400">
                <a:solidFill>
                  <a:srgbClr val="666666"/>
                </a:solidFill>
              </a:defRPr>
            </a:pPr>
            <a:r>
              <a:t>+183.6万 25年开发（28%）：浙江儿童、迈顺、华大丽水、台州中心。</a:t>
            </a:r>
          </a:p>
          <a:p>
            <a:pPr>
              <a:spcAft>
                <a:spcPts val="800"/>
              </a:spcAft>
              <a:defRPr sz="1400">
                <a:solidFill>
                  <a:srgbClr val="666666"/>
                </a:solidFill>
              </a:defRPr>
            </a:pPr>
            <a:r>
              <a:t>+168.3万 26年开发（25%）：海宁人民、上海津熙（丽水人民）。</a:t>
            </a:r>
          </a:p>
          <a:p>
            <a:pPr>
              <a:spcAft>
                <a:spcPts val="800"/>
              </a:spcAft>
              <a:defRPr sz="1400">
                <a:solidFill>
                  <a:srgbClr val="666666"/>
                </a:solidFill>
              </a:defRPr>
            </a:pPr>
            <a:r>
              <a:t>守量警示：136家存量客户净增仅-8.1万，+482万上量被-490万流失/降价抵消。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0">
                <a:solidFill>
                  <a:srgbClr val="FFFFFF"/>
                </a:solidFill>
              </a:defRPr>
            </a:pPr>
            <a:r>
              <a:t>杭州公司 · 专线特检经营复盘  |  第三部分 · 客户维度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365D"/>
                </a:solidFill>
              </a:defRPr>
            </a:pPr>
            <a:r>
              <a:t>客户来源（二）：41家重点客户是增长引擎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666666"/>
                </a:solidFill>
              </a:defRPr>
            </a:pPr>
            <a:r>
              <a:t>41家重点客户：净增+267.6万 — 增长的绝对来源。</a:t>
            </a:r>
          </a:p>
          <a:p>
            <a:pPr>
              <a:spcAft>
                <a:spcPts val="800"/>
              </a:spcAft>
              <a:defRPr sz="1400">
                <a:solidFill>
                  <a:srgbClr val="666666"/>
                </a:solidFill>
              </a:defRPr>
            </a:pPr>
            <a:r>
              <a:t>109家非重点客户：净增-115.0万 — 整体拖后腿。</a:t>
            </a:r>
          </a:p>
          <a:p>
            <a:pPr>
              <a:spcAft>
                <a:spcPts val="800"/>
              </a:spcAft>
              <a:defRPr sz="1400">
                <a:solidFill>
                  <a:srgbClr val="666666"/>
                </a:solidFill>
              </a:defRPr>
            </a:pPr>
            <a:r>
              <a:t>91家增长（+643万）vs 59家下滑（-490万）；Top5增长客户=全部增长43%。</a:t>
            </a:r>
          </a:p>
          <a:p>
            <a:pPr>
              <a:spcAft>
                <a:spcPts val="800"/>
              </a:spcAft>
              <a:defRPr sz="1400">
                <a:solidFill>
                  <a:srgbClr val="666666"/>
                </a:solidFill>
              </a:defRPr>
            </a:pPr>
            <a:r>
              <a:t>启示：资源必须向重点客户倾斜。「选对客户」比「多跑客户」更决定结果。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0">
                <a:solidFill>
                  <a:srgbClr val="FFFFFF"/>
                </a:solidFill>
              </a:defRPr>
            </a:pPr>
            <a:r>
              <a:t>杭州公司 · 专线特检经营复盘  |  第三部分 · 客户维度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365D"/>
                </a:solidFill>
              </a:defRPr>
            </a:pPr>
            <a:r>
              <a:t>TOP增长客户画像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666666"/>
                </a:solidFill>
              </a:defRPr>
            </a:pPr>
            <a:r>
              <a:t>浙大儿院 +122.0万：血液肿瘤转录组·维生素·宏基因上量（存量·S级）</a:t>
            </a:r>
          </a:p>
          <a:p>
            <a:pPr>
              <a:spcAft>
                <a:spcPts val="800"/>
              </a:spcAft>
              <a:defRPr sz="1400">
                <a:solidFill>
                  <a:srgbClr val="666666"/>
                </a:solidFill>
              </a:defRPr>
            </a:pPr>
            <a:r>
              <a:t>台州中心 +46.3万：宏基因·肌炎抗体新项目开发（25开发·S级）</a:t>
            </a:r>
          </a:p>
          <a:p>
            <a:pPr>
              <a:spcAft>
                <a:spcPts val="800"/>
              </a:spcAft>
              <a:defRPr sz="1400">
                <a:solidFill>
                  <a:srgbClr val="666666"/>
                </a:solidFill>
              </a:defRPr>
            </a:pPr>
            <a:r>
              <a:t>杭州市一 +39.7万：全外·NIPT-PLUS·CMA上量（存量·S级）</a:t>
            </a:r>
          </a:p>
          <a:p>
            <a:pPr>
              <a:spcAft>
                <a:spcPts val="800"/>
              </a:spcAft>
              <a:defRPr sz="1400">
                <a:solidFill>
                  <a:srgbClr val="666666"/>
                </a:solidFill>
              </a:defRPr>
            </a:pPr>
            <a:r>
              <a:t>富阳妇幼 +36.5万：tNGS·微量元素·细胞因子等（存量·重点）</a:t>
            </a:r>
          </a:p>
          <a:p>
            <a:pPr>
              <a:spcAft>
                <a:spcPts val="800"/>
              </a:spcAft>
              <a:defRPr sz="1400">
                <a:solidFill>
                  <a:srgbClr val="666666"/>
                </a:solidFill>
              </a:defRPr>
            </a:pPr>
            <a:r>
              <a:t>迈顺生物 +35.2万 | 华大丽水 +27.6万 | 海宁人民 +24.5万 | 湖州一院 +12.3万</a:t>
            </a:r>
          </a:p>
          <a:p>
            <a:pPr>
              <a:spcAft>
                <a:spcPts val="800"/>
              </a:spcAft>
              <a:defRPr sz="1400">
                <a:solidFill>
                  <a:srgbClr val="666666"/>
                </a:solidFill>
              </a:defRPr>
            </a:pPr>
            <a:r>
              <a:t>三类画像：大型公立存量深挖 | 第三方血液渠道 | 妇幼生殖遗传渗透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0">
                <a:solidFill>
                  <a:srgbClr val="FFFFFF"/>
                </a:solidFill>
              </a:defRPr>
            </a:pPr>
            <a:r>
              <a:t>杭州公司 · 专线特检经营复盘  |  第四部分 · 项目维度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365D"/>
                </a:solidFill>
              </a:defRPr>
            </a:pPr>
            <a:r>
              <a:t>项目来源：血液类+43%是主引擎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666666"/>
                </a:solidFill>
              </a:defRPr>
            </a:pPr>
            <a:r>
              <a:t>特检·血液：301→432万，同比+130.7万（+43%）— 本轮增长主引擎。</a:t>
            </a:r>
          </a:p>
          <a:p>
            <a:pPr>
              <a:spcAft>
                <a:spcPts val="800"/>
              </a:spcAft>
              <a:defRPr sz="1400">
                <a:solidFill>
                  <a:srgbClr val="666666"/>
                </a:solidFill>
              </a:defRPr>
            </a:pPr>
            <a:r>
              <a:t>特检·非血液：2065→2083万，同比+18.1万（+1%）— 基本持平。</a:t>
            </a:r>
          </a:p>
          <a:p>
            <a:pPr>
              <a:spcAft>
                <a:spcPts val="800"/>
              </a:spcAft>
              <a:defRPr sz="1400">
                <a:solidFill>
                  <a:srgbClr val="666666"/>
                </a:solidFill>
              </a:defRPr>
            </a:pPr>
            <a:r>
              <a:t>高价值项目矩阵：血液病NGS/转录组 | 感染mNGS/tNGS | 妇幼全外/NIPT | 质谱维生素</a:t>
            </a:r>
          </a:p>
          <a:p>
            <a:pPr>
              <a:spcAft>
                <a:spcPts val="800"/>
              </a:spcAft>
              <a:defRPr sz="1400">
                <a:solidFill>
                  <a:srgbClr val="666666"/>
                </a:solidFill>
              </a:defRPr>
            </a:pPr>
            <a:r>
              <a:t>TOP项目：质谱维生素+mNGS增量最显著；渠道客户是血液增量主力。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0">
                <a:solidFill>
                  <a:srgbClr val="FFFFFF"/>
                </a:solidFill>
              </a:defRPr>
            </a:pPr>
            <a:r>
              <a:t>杭州公司 · 专线特检经营复盘  |  第四部分 · 项目维度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365D"/>
                </a:solidFill>
              </a:defRPr>
            </a:pPr>
            <a:r>
              <a:t>TOP增长项目与主要来源客户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666666"/>
                </a:solidFill>
              </a:defRPr>
            </a:pPr>
            <a:r>
              <a:t>血液肿瘤转录组 +35.8万（浙大儿院）| 血液NGS +43.3万（华大/汉库）</a:t>
            </a:r>
          </a:p>
          <a:p>
            <a:pPr>
              <a:spcAft>
                <a:spcPts val="800"/>
              </a:spcAft>
              <a:defRPr sz="1400">
                <a:solidFill>
                  <a:srgbClr val="666666"/>
                </a:solidFill>
              </a:defRPr>
            </a:pPr>
            <a:r>
              <a:t>血液融合突变 +27.7万（迈顺）| 血液免疫 +19.9万（丽水中心/津熙）</a:t>
            </a:r>
          </a:p>
          <a:p>
            <a:pPr>
              <a:spcAft>
                <a:spcPts val="800"/>
              </a:spcAft>
              <a:defRPr sz="1400">
                <a:solidFill>
                  <a:srgbClr val="666666"/>
                </a:solidFill>
              </a:defRPr>
            </a:pPr>
            <a:r>
              <a:t>mNGS +77.1万（台州中心/浙江医院）| tNGS +62.3万（富阳妇幼/海宁人民）</a:t>
            </a:r>
          </a:p>
          <a:p>
            <a:pPr>
              <a:spcAft>
                <a:spcPts val="800"/>
              </a:spcAft>
              <a:defRPr sz="1400">
                <a:solidFill>
                  <a:srgbClr val="666666"/>
                </a:solidFill>
              </a:defRPr>
            </a:pPr>
            <a:r>
              <a:t>全外+NIPT +40.0万（杭州市一）| 质谱维生素 +102.2万（浙大儿院/玉环人民）</a:t>
            </a:r>
          </a:p>
          <a:p>
            <a:pPr>
              <a:spcAft>
                <a:spcPts val="800"/>
              </a:spcAft>
              <a:defRPr sz="1400">
                <a:solidFill>
                  <a:srgbClr val="666666"/>
                </a:solidFill>
              </a:defRPr>
            </a:pPr>
            <a:r>
              <a:t>血液类top3贡献126.7万 | 非血液类top3贡献281.6万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0">
                <a:solidFill>
                  <a:srgbClr val="FFFFFF"/>
                </a:solidFill>
              </a:defRPr>
            </a:pPr>
            <a:r>
              <a:t>杭州公司 · 专线特检经营复盘  |  第五部分 · 动作验证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365D"/>
                </a:solidFill>
              </a:defRPr>
            </a:pPr>
            <a:r>
              <a:t>关键动作：四个被验证的销售打法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666666"/>
                </a:solidFill>
              </a:defRPr>
            </a:pPr>
            <a:r>
              <a:t>① 集团/单标中标开发：浙江儿童、台州中心、海宁人民、武义中医</a:t>
            </a:r>
          </a:p>
          <a:p>
            <a:pPr>
              <a:spcAft>
                <a:spcPts val="800"/>
              </a:spcAft>
              <a:defRPr sz="1400">
                <a:solidFill>
                  <a:srgbClr val="666666"/>
                </a:solidFill>
              </a:defRPr>
            </a:pPr>
            <a:r>
              <a:t>② 院内项目菜单渗透+临床上量：富阳妇幼、浙江医院</a:t>
            </a:r>
          </a:p>
          <a:p>
            <a:pPr>
              <a:spcAft>
                <a:spcPts val="800"/>
              </a:spcAft>
              <a:defRPr sz="1400">
                <a:solidFill>
                  <a:srgbClr val="666666"/>
                </a:solidFill>
              </a:defRPr>
            </a:pPr>
            <a:r>
              <a:t>③ 第三方/平台/生物公司渠道开发：迈顺、华大、津熙、汉库、美康</a:t>
            </a:r>
          </a:p>
          <a:p>
            <a:pPr>
              <a:spcAft>
                <a:spcPts val="800"/>
              </a:spcAft>
              <a:defRPr sz="1400">
                <a:solidFill>
                  <a:srgbClr val="666666"/>
                </a:solidFill>
              </a:defRPr>
            </a:pPr>
            <a:r>
              <a:t>④ 存量大客户深挖：大型公立三级医院持续加项目、加量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0">
                <a:solidFill>
                  <a:srgbClr val="FFFFFF"/>
                </a:solidFill>
              </a:defRPr>
            </a:pPr>
            <a:r>
              <a:t>杭州公司 · 专线特检经营复盘  |  第五部分 · 动作验证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365D"/>
                </a:solidFill>
              </a:defRPr>
            </a:pPr>
            <a:r>
              <a:t>执行分化：头部拉动、尾部拖累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666666"/>
                </a:solidFill>
              </a:defRPr>
            </a:pPr>
            <a:r>
              <a:t>整体达成率93.85%未达标；增量由少数代表/区域拉动。</a:t>
            </a:r>
          </a:p>
          <a:p>
            <a:pPr>
              <a:spcAft>
                <a:spcPts val="800"/>
              </a:spcAft>
              <a:defRPr sz="1400">
                <a:solidFill>
                  <a:srgbClr val="666666"/>
                </a:solidFill>
              </a:defRPr>
            </a:pPr>
            <a:r>
              <a:t>头部：陆帅+122.5万(146%) | 陈丽莎+61.9万(116%) | 黄小英+45.2万(116%)</a:t>
            </a:r>
          </a:p>
          <a:p>
            <a:pPr>
              <a:spcAft>
                <a:spcPts val="800"/>
              </a:spcAft>
              <a:defRPr sz="1400">
                <a:solidFill>
                  <a:srgbClr val="666666"/>
                </a:solidFill>
              </a:defRPr>
            </a:pPr>
            <a:r>
              <a:t>尾部：嘉兴区域-98.7万(10%) | 张均-38.8万(63%) | 廖王宁-29.7万(85%)</a:t>
            </a:r>
          </a:p>
          <a:p>
            <a:pPr>
              <a:spcAft>
                <a:spcPts val="800"/>
              </a:spcAft>
              <a:defRPr sz="1400">
                <a:solidFill>
                  <a:srgbClr val="666666"/>
                </a:solidFill>
              </a:defRPr>
            </a:pPr>
            <a:r>
              <a:t>尾部误判：廖王宁渠道能力突出（华大/津熙+40.3万），被存量下滑掩盖。</a:t>
            </a:r>
          </a:p>
          <a:p>
            <a:pPr>
              <a:spcAft>
                <a:spcPts val="800"/>
              </a:spcAft>
              <a:defRPr sz="1400">
                <a:solidFill>
                  <a:srgbClr val="666666"/>
                </a:solidFill>
              </a:defRPr>
            </a:pPr>
            <a:r>
              <a:t>建议：分开考核存量维护与渠道开发，避免一刀切末位淘汰。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0">
                <a:solidFill>
                  <a:srgbClr val="FFFFFF"/>
                </a:solidFill>
              </a:defRPr>
            </a:pPr>
            <a:r>
              <a:t>杭州公司 · 专线特检经营复盘  |  第六部分 · 组织调整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365D"/>
                </a:solidFill>
              </a:defRPr>
            </a:pPr>
            <a:r>
              <a:t>客户分层体系总览：从广度覆盖到精准聚焦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666666"/>
                </a:solidFill>
              </a:defRPr>
            </a:pPr>
            <a:r>
              <a:t>三层客户管理体系：</a:t>
            </a:r>
          </a:p>
          <a:p>
            <a:pPr>
              <a:spcAft>
                <a:spcPts val="800"/>
              </a:spcAft>
              <a:defRPr sz="1400">
                <a:solidFill>
                  <a:srgbClr val="666666"/>
                </a:solidFill>
              </a:defRPr>
            </a:pPr>
            <a:r>
              <a:t>  · 41家重点客户（专人专管）— 特检增长引擎，100%覆盖</a:t>
            </a:r>
          </a:p>
          <a:p>
            <a:pPr>
              <a:spcAft>
                <a:spcPts val="800"/>
              </a:spcAft>
              <a:defRPr sz="1400">
                <a:solidFill>
                  <a:srgbClr val="666666"/>
                </a:solidFill>
              </a:defRPr>
            </a:pPr>
            <a:r>
              <a:t>  · 71家普特共管（聚焦后）— 其中41家纳入重点管理</a:t>
            </a:r>
          </a:p>
          <a:p>
            <a:pPr>
              <a:spcAft>
                <a:spcPts val="800"/>
              </a:spcAft>
              <a:defRPr sz="1400">
                <a:solidFill>
                  <a:srgbClr val="666666"/>
                </a:solidFill>
              </a:defRPr>
            </a:pPr>
            <a:r>
              <a:t>  · 普检专管 — 普检业务独立运营，特检代表不再挂名</a:t>
            </a:r>
          </a:p>
          <a:p>
            <a:pPr>
              <a:spcAft>
                <a:spcPts val="800"/>
              </a:spcAft>
              <a:defRPr sz="1400">
                <a:solidFill>
                  <a:srgbClr val="666666"/>
                </a:solidFill>
              </a:defRPr>
            </a:pPr>
            <a:r>
              <a:t>调整逻辑：先「减」无效存量，再「加」重点产出 — 组织调整服务于增长公式。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0">
                <a:solidFill>
                  <a:srgbClr val="FFFFFF"/>
                </a:solidFill>
              </a:defRPr>
            </a:pPr>
            <a:r>
              <a:t>杭州公司 · 专线特检经营复盘  |  第六部分 · 组织调整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365D"/>
                </a:solidFill>
              </a:defRPr>
            </a:pPr>
            <a:r>
              <a:t>第一轮调整（3–5月）：普特共管瘦身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666666"/>
                </a:solidFill>
              </a:defRPr>
            </a:pPr>
            <a:r>
              <a:t>调整背景：204家普特共管医院覆盖面过广，特检代表精力被稀释。</a:t>
            </a:r>
          </a:p>
          <a:p>
            <a:pPr>
              <a:spcAft>
                <a:spcPts val="800"/>
              </a:spcAft>
              <a:defRPr sz="1400">
                <a:solidFill>
                  <a:srgbClr val="666666"/>
                </a:solidFill>
              </a:defRPr>
            </a:pPr>
            <a:r>
              <a:t>调整动作：92家转普检专管，由普检团队独立负责，特检代表退出挂名管理。</a:t>
            </a:r>
          </a:p>
          <a:p>
            <a:pPr>
              <a:spcAft>
                <a:spcPts val="800"/>
              </a:spcAft>
              <a:defRPr sz="1400">
                <a:solidFill>
                  <a:srgbClr val="666666"/>
                </a:solidFill>
              </a:defRPr>
            </a:pPr>
            <a:r>
              <a:t>筛选依据：1–3月特检代表零拜访记录占比约90%，属「挂名不产出」。</a:t>
            </a:r>
          </a:p>
          <a:p>
            <a:pPr>
              <a:spcAft>
                <a:spcPts val="800"/>
              </a:spcAft>
              <a:defRPr sz="1400">
                <a:solidFill>
                  <a:srgbClr val="666666"/>
                </a:solidFill>
              </a:defRPr>
            </a:pPr>
            <a:r>
              <a:t>92家客户2026特检指标合计约1040万，但拜访产出极低。</a:t>
            </a:r>
          </a:p>
          <a:p>
            <a:pPr>
              <a:spcAft>
                <a:spcPts val="800"/>
              </a:spcAft>
              <a:defRPr sz="1400">
                <a:solidFill>
                  <a:srgbClr val="666666"/>
                </a:solidFill>
              </a:defRPr>
            </a:pPr>
            <a:r>
              <a:t>人员优化：同步优化3名代表，释放精力投向重点客户。</a:t>
            </a:r>
          </a:p>
          <a:p>
            <a:pPr>
              <a:spcAft>
                <a:spcPts val="800"/>
              </a:spcAft>
              <a:defRPr sz="1400">
                <a:solidFill>
                  <a:srgbClr val="666666"/>
                </a:solidFill>
              </a:defRPr>
            </a:pPr>
            <a:r>
              <a:t>保留原则：指标更高或有真实特检拜访记录的客户保留共管。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0">
                <a:solidFill>
                  <a:srgbClr val="FFFFFF"/>
                </a:solidFill>
              </a:defRPr>
            </a:pPr>
            <a:r>
              <a:t>杭州公司 · 专线特检经营复盘  |  第六部分 · 组织调整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365D"/>
                </a:solidFill>
              </a:defRPr>
            </a:pPr>
            <a:r>
              <a:t>第二轮调整（6月）：聚焦复盘与再瘦身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666666"/>
                </a:solidFill>
              </a:defRPr>
            </a:pPr>
            <a:r>
              <a:t>调整背景：第一轮后仍有123家普特共管医院，代表负担依然偏重。</a:t>
            </a:r>
          </a:p>
          <a:p>
            <a:pPr>
              <a:spcAft>
                <a:spcPts val="800"/>
              </a:spcAft>
              <a:defRPr sz="1400">
                <a:solidFill>
                  <a:srgbClr val="666666"/>
                </a:solidFill>
              </a:defRPr>
            </a:pPr>
            <a:r>
              <a:t>调整动作：6月中对123家普特共管医院再次进行聚焦调整。</a:t>
            </a:r>
          </a:p>
          <a:p>
            <a:pPr>
              <a:spcAft>
                <a:spcPts val="800"/>
              </a:spcAft>
              <a:defRPr sz="1400">
                <a:solidFill>
                  <a:srgbClr val="666666"/>
                </a:solidFill>
              </a:defRPr>
            </a:pPr>
            <a:r>
              <a:t>数据盘点结果（本轮完成后）：</a:t>
            </a:r>
          </a:p>
          <a:p>
            <a:pPr>
              <a:spcAft>
                <a:spcPts val="800"/>
              </a:spcAft>
              <a:defRPr sz="1400">
                <a:solidFill>
                  <a:srgbClr val="666666"/>
                </a:solidFill>
              </a:defRPr>
            </a:pPr>
            <a:r>
              <a:t>  · 普特共管医院缩减至71家</a:t>
            </a:r>
          </a:p>
          <a:p>
            <a:pPr>
              <a:spcAft>
                <a:spcPts val="800"/>
              </a:spcAft>
              <a:defRPr sz="1400">
                <a:solidFill>
                  <a:srgbClr val="666666"/>
                </a:solidFill>
              </a:defRPr>
            </a:pPr>
            <a:r>
              <a:t>  · 其中重点医院41家，纳入专人专管体系</a:t>
            </a:r>
          </a:p>
          <a:p>
            <a:pPr>
              <a:spcAft>
                <a:spcPts val="800"/>
              </a:spcAft>
              <a:defRPr sz="1400">
                <a:solidFill>
                  <a:srgbClr val="666666"/>
                </a:solidFill>
              </a:defRPr>
            </a:pPr>
            <a:r>
              <a:t>  · 其余30家按普检专管或常规共管模式运营</a:t>
            </a:r>
          </a:p>
          <a:p>
            <a:pPr>
              <a:spcAft>
                <a:spcPts val="800"/>
              </a:spcAft>
              <a:defRPr sz="1400">
                <a:solidFill>
                  <a:srgbClr val="666666"/>
                </a:solidFill>
              </a:defRPr>
            </a:pPr>
            <a:r>
              <a:t>两轮合计效果：204家 → 71家，精简率65%，代表有效拜访覆盖率显著提升。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0">
                <a:solidFill>
                  <a:srgbClr val="FFFFFF"/>
                </a:solidFill>
              </a:defRPr>
            </a:pPr>
            <a:r>
              <a:t>杭州公司 · 专线特检经营复盘  |  第六部分 · 组织调整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365D"/>
                </a:solidFill>
              </a:defRPr>
            </a:pPr>
            <a:r>
              <a:t>41家重点客户 × 专人专管配置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666666"/>
                </a:solidFill>
              </a:defRPr>
            </a:pPr>
            <a:r>
              <a:t>S级（12家）：浙大儿院→陆帅 | 台州中心→陈丽莎 | 杭州市一→张朝龙</a:t>
            </a:r>
          </a:p>
          <a:p>
            <a:pPr>
              <a:spcAft>
                <a:spcPts val="800"/>
              </a:spcAft>
              <a:defRPr sz="1400">
                <a:solidFill>
                  <a:srgbClr val="666666"/>
                </a:solidFill>
              </a:defRPr>
            </a:pPr>
            <a:r>
              <a:t>A级渠道：迈顺生物→张朝龙协同 | 华大丽水→廖王宁渠道专职</a:t>
            </a:r>
          </a:p>
          <a:p>
            <a:pPr>
              <a:spcAft>
                <a:spcPts val="800"/>
              </a:spcAft>
              <a:defRPr sz="1400">
                <a:solidFill>
                  <a:srgbClr val="666666"/>
                </a:solidFill>
              </a:defRPr>
            </a:pPr>
            <a:r>
              <a:t>A/B级：海宁人民→李传印 | 湖州一院→钟秋琴</a:t>
            </a:r>
          </a:p>
          <a:p>
            <a:pPr>
              <a:spcAft>
                <a:spcPts val="800"/>
              </a:spcAft>
              <a:defRPr sz="1400">
                <a:solidFill>
                  <a:srgbClr val="666666"/>
                </a:solidFill>
              </a:defRPr>
            </a:pPr>
            <a:r>
              <a:t>覆盖原则：41家100%指定专人，杜绝多头对接。</a:t>
            </a:r>
          </a:p>
          <a:p>
            <a:pPr>
              <a:spcAft>
                <a:spcPts val="800"/>
              </a:spcAft>
              <a:defRPr sz="1400">
                <a:solidFill>
                  <a:srgbClr val="666666"/>
                </a:solidFill>
              </a:defRPr>
            </a:pPr>
            <a:r>
              <a:t>调整节奏：两周完成交接，建立联系台账；其余33家同标准两周报送。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0">
                <a:solidFill>
                  <a:srgbClr val="FFFFFF"/>
                </a:solidFill>
              </a:defRPr>
            </a:pPr>
            <a:r>
              <a:t>杭州公司 · 专线特检经营复盘  |  第六部分 · 组织调整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365D"/>
                </a:solidFill>
              </a:defRPr>
            </a:pPr>
            <a:r>
              <a:t>人员结构优化与末位转型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666666"/>
                </a:solidFill>
              </a:defRPr>
            </a:pPr>
            <a:r>
              <a:t>41家重点客户分级：S级12家 | A级18家 | B级11家 — 100%专人专管。</a:t>
            </a:r>
          </a:p>
          <a:p>
            <a:pPr>
              <a:spcAft>
                <a:spcPts val="800"/>
              </a:spcAft>
              <a:defRPr sz="1400">
                <a:solidFill>
                  <a:srgbClr val="666666"/>
                </a:solidFill>
              </a:defRPr>
            </a:pPr>
            <a:r>
              <a:t>代表结构：S级高潜32% | A级达标45% | B级待优化23%。</a:t>
            </a:r>
          </a:p>
          <a:p>
            <a:pPr>
              <a:spcAft>
                <a:spcPts val="800"/>
              </a:spcAft>
              <a:defRPr sz="1400">
                <a:solidFill>
                  <a:srgbClr val="666666"/>
                </a:solidFill>
              </a:defRPr>
            </a:pPr>
            <a:r>
              <a:t>末位转型清单：3名代表/区域同比合计-167.2万，达成率均低于85%。</a:t>
            </a:r>
          </a:p>
          <a:p>
            <a:pPr>
              <a:spcAft>
                <a:spcPts val="800"/>
              </a:spcAft>
              <a:defRPr sz="1400">
                <a:solidFill>
                  <a:srgbClr val="666666"/>
                </a:solidFill>
              </a:defRPr>
            </a:pPr>
            <a:r>
              <a:t>  · 嘉兴区域-98.7万（结构性流失，非单纯执行问题）</a:t>
            </a:r>
          </a:p>
          <a:p>
            <a:pPr>
              <a:spcAft>
                <a:spcPts val="800"/>
              </a:spcAft>
              <a:defRPr sz="1400">
                <a:solidFill>
                  <a:srgbClr val="666666"/>
                </a:solidFill>
              </a:defRPr>
            </a:pPr>
            <a:r>
              <a:t>  · 张均-38.8万（已优化，存量维护漏洞）</a:t>
            </a:r>
          </a:p>
          <a:p>
            <a:pPr>
              <a:spcAft>
                <a:spcPts val="800"/>
              </a:spcAft>
              <a:defRPr sz="1400">
                <a:solidFill>
                  <a:srgbClr val="666666"/>
                </a:solidFill>
              </a:defRPr>
            </a:pPr>
            <a:r>
              <a:t>  · 廖王宁-29.7万（渠道能力保留，存量维护加强）</a:t>
            </a:r>
          </a:p>
          <a:p>
            <a:pPr>
              <a:spcAft>
                <a:spcPts val="800"/>
              </a:spcAft>
              <a:defRPr sz="1400">
                <a:solidFill>
                  <a:srgbClr val="666666"/>
                </a:solidFill>
              </a:defRPr>
            </a:pPr>
            <a:r>
              <a:t>与普特共管调整联动：两轮瘦身+3人优化，腾出的精力全部压向41家重点。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0">
                <a:solidFill>
                  <a:srgbClr val="FFFFFF"/>
                </a:solidFill>
              </a:defRPr>
            </a:pPr>
            <a:r>
              <a:t>杭州公司 · 专线特检经营复盘  |  第七部分 · 执行范本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365D"/>
                </a:solidFill>
              </a:defRPr>
            </a:pPr>
            <a:r>
              <a:t>可复制销售执行范本：五步法总览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666666"/>
                </a:solidFill>
              </a:defRPr>
            </a:pPr>
            <a:r>
              <a:t>① 客户分层·圈定重点 — 交付物：重点客户名单+分级资源配置</a:t>
            </a:r>
          </a:p>
          <a:p>
            <a:pPr>
              <a:spcAft>
                <a:spcPts val="800"/>
              </a:spcAft>
              <a:defRPr sz="1400">
                <a:solidFill>
                  <a:srgbClr val="666666"/>
                </a:solidFill>
              </a:defRPr>
            </a:pPr>
            <a:r>
              <a:t>② 高价值项目·菜单化 — 交付物：客户×项目机会矩阵</a:t>
            </a:r>
          </a:p>
          <a:p>
            <a:pPr>
              <a:spcAft>
                <a:spcPts val="800"/>
              </a:spcAft>
              <a:defRPr sz="1400">
                <a:solidFill>
                  <a:srgbClr val="666666"/>
                </a:solidFill>
              </a:defRPr>
            </a:pPr>
            <a:r>
              <a:t>③ 标准销售动作SOP — 交付物：单客户开发SOP+周跟进表</a:t>
            </a:r>
          </a:p>
          <a:p>
            <a:pPr>
              <a:spcAft>
                <a:spcPts val="800"/>
              </a:spcAft>
              <a:defRPr sz="1400">
                <a:solidFill>
                  <a:srgbClr val="666666"/>
                </a:solidFill>
              </a:defRPr>
            </a:pPr>
            <a:r>
              <a:t>④ 月度归因·复盘 — 交付物：归因表+增量瀑布（本模板）</a:t>
            </a:r>
          </a:p>
          <a:p>
            <a:pPr>
              <a:spcAft>
                <a:spcPts val="800"/>
              </a:spcAft>
              <a:defRPr sz="1400">
                <a:solidFill>
                  <a:srgbClr val="666666"/>
                </a:solidFill>
              </a:defRPr>
            </a:pPr>
            <a:r>
              <a:t>⑤ 运营护栏 — 合同管理、流失预警、升级机制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0">
                <a:solidFill>
                  <a:srgbClr val="FFFFFF"/>
                </a:solidFill>
              </a:defRPr>
            </a:pPr>
            <a:r>
              <a:t>杭州公司 · 专线特检经营复盘  |  第七部分 · 执行范本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365D"/>
                </a:solidFill>
              </a:defRPr>
            </a:pPr>
            <a:r>
              <a:t>标准销售动作SOP：单客户五步闭环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666666"/>
                </a:solidFill>
              </a:defRPr>
            </a:pPr>
            <a:r>
              <a:t>① 中标突破：提前2周对接参数，中标当周启动送检导入</a:t>
            </a:r>
          </a:p>
          <a:p>
            <a:pPr>
              <a:spcAft>
                <a:spcPts val="800"/>
              </a:spcAft>
              <a:defRPr sz="1400">
                <a:solidFill>
                  <a:srgbClr val="666666"/>
                </a:solidFill>
              </a:defRPr>
            </a:pPr>
            <a:r>
              <a:t>② 进院准入：1个月内完成物价/耗材/系统对接，召开科室启动会</a:t>
            </a:r>
          </a:p>
          <a:p>
            <a:pPr>
              <a:spcAft>
                <a:spcPts val="800"/>
              </a:spcAft>
              <a:defRPr sz="1400">
                <a:solidFill>
                  <a:srgbClr val="666666"/>
                </a:solidFill>
              </a:defRPr>
            </a:pPr>
            <a:r>
              <a:t>③ 临床上量：逐科室加项目，每两周跟进，90天达月送检基线</a:t>
            </a:r>
          </a:p>
          <a:p>
            <a:pPr>
              <a:spcAft>
                <a:spcPts val="800"/>
              </a:spcAft>
              <a:defRPr sz="1400">
                <a:solidFill>
                  <a:srgbClr val="666666"/>
                </a:solidFill>
              </a:defRPr>
            </a:pPr>
            <a:r>
              <a:t>④ 渠道渗透：第三方实验室锁定血液类项目，签署渠道协议</a:t>
            </a:r>
          </a:p>
          <a:p>
            <a:pPr>
              <a:spcAft>
                <a:spcPts val="800"/>
              </a:spcAft>
              <a:defRPr sz="1400">
                <a:solidFill>
                  <a:srgbClr val="666666"/>
                </a:solidFill>
              </a:defRPr>
            </a:pPr>
            <a:r>
              <a:t>⑤ 周期闭环：连续2周无进展升级区域经理，启动专项介入</a:t>
            </a:r>
          </a:p>
          <a:p>
            <a:pPr>
              <a:spcAft>
                <a:spcPts val="800"/>
              </a:spcAft>
              <a:defRPr sz="1400">
                <a:solidFill>
                  <a:srgbClr val="666666"/>
                </a:solidFill>
              </a:defRPr>
            </a:pPr>
            <a:r>
              <a:t>KPI：中标30天内导入≥90% | 首单≤30天 | 90天上量达成≥80%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0">
                <a:solidFill>
                  <a:srgbClr val="FFFFFF"/>
                </a:solidFill>
              </a:defRPr>
            </a:pPr>
            <a:r>
              <a:t>杭州公司 · 专线特检经营复盘  |  第七部分 · 执行范本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365D"/>
                </a:solidFill>
              </a:defRPr>
            </a:pPr>
            <a:r>
              <a:t>单客户8周跟进表模板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666666"/>
                </a:solidFill>
              </a:defRPr>
            </a:pPr>
            <a:r>
              <a:t>第1–2周（中标）：锁定招标信息→中标后即时导入送检协议</a:t>
            </a:r>
          </a:p>
          <a:p>
            <a:pPr>
              <a:spcAft>
                <a:spcPts val="800"/>
              </a:spcAft>
              <a:defRPr sz="1400">
                <a:solidFill>
                  <a:srgbClr val="666666"/>
                </a:solidFill>
              </a:defRPr>
            </a:pPr>
            <a:r>
              <a:t>第3–4周（进院）：物价/耗材/系统对接→首批2-3个高价值项目开出</a:t>
            </a:r>
          </a:p>
          <a:p>
            <a:pPr>
              <a:spcAft>
                <a:spcPts val="800"/>
              </a:spcAft>
              <a:defRPr sz="1400">
                <a:solidFill>
                  <a:srgbClr val="666666"/>
                </a:solidFill>
              </a:defRPr>
            </a:pPr>
            <a:r>
              <a:t>第5–6周（上量）：逐科室加项目→复盘上量斜率，未达预期约见主任</a:t>
            </a:r>
          </a:p>
          <a:p>
            <a:pPr>
              <a:spcAft>
                <a:spcPts val="800"/>
              </a:spcAft>
              <a:defRPr sz="1400">
                <a:solidFill>
                  <a:srgbClr val="666666"/>
                </a:solidFill>
              </a:defRPr>
            </a:pPr>
            <a:r>
              <a:t>第7周（渠道）：评估第三方延伸合作，视情况签署渠道协议</a:t>
            </a:r>
          </a:p>
          <a:p>
            <a:pPr>
              <a:spcAft>
                <a:spcPts val="800"/>
              </a:spcAft>
              <a:defRPr sz="1400">
                <a:solidFill>
                  <a:srgbClr val="666666"/>
                </a:solidFill>
              </a:defRPr>
            </a:pPr>
            <a:r>
              <a:t>第8周（复盘）：归因全过程，固化打法并存档</a:t>
            </a:r>
          </a:p>
          <a:p>
            <a:pPr>
              <a:spcAft>
                <a:spcPts val="800"/>
              </a:spcAft>
              <a:defRPr sz="1400">
                <a:solidFill>
                  <a:srgbClr val="666666"/>
                </a:solidFill>
              </a:defRPr>
            </a:pPr>
            <a:r>
              <a:t>责任人：客户专管代表为主，区域经理参与中标/复盘节点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0">
                <a:solidFill>
                  <a:srgbClr val="FFFFFF"/>
                </a:solidFill>
              </a:defRPr>
            </a:pPr>
            <a:r>
              <a:t>杭州公司 · 专线特检经营复盘  |  第八部分 · 前瞻计划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365D"/>
                </a:solidFill>
              </a:defRPr>
            </a:pPr>
            <a:r>
              <a:t>H2重大项目管线：2428万，6–12月放量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666666"/>
                </a:solidFill>
              </a:defRPr>
            </a:pPr>
            <a:r>
              <a:t>管线总额2428万：感染848万(35%) | 血液病550万(23%) | 质谱461万(19%)</a:t>
            </a:r>
          </a:p>
          <a:p>
            <a:pPr>
              <a:spcAft>
                <a:spcPts val="800"/>
              </a:spcAft>
              <a:defRPr sz="1400">
                <a:solidFill>
                  <a:srgbClr val="666666"/>
                </a:solidFill>
              </a:defRPr>
            </a:pPr>
            <a:r>
              <a:t>其他：肿瘤215万 | 遗传生殖214万 | 神经/其他140万</a:t>
            </a:r>
          </a:p>
          <a:p>
            <a:pPr>
              <a:spcAft>
                <a:spcPts val="800"/>
              </a:spcAft>
              <a:defRPr sz="1400">
                <a:solidFill>
                  <a:srgbClr val="666666"/>
                </a:solidFill>
              </a:defRPr>
            </a:pPr>
            <a:r>
              <a:t>月度放量路径：6月230万 → 12月519万，下半年翻倍</a:t>
            </a:r>
          </a:p>
          <a:p>
            <a:pPr>
              <a:spcAft>
                <a:spcPts val="800"/>
              </a:spcAft>
              <a:defRPr sz="1400">
                <a:solidFill>
                  <a:srgbClr val="666666"/>
                </a:solidFill>
              </a:defRPr>
            </a:pPr>
            <a:r>
              <a:t>行动要求：提前锁定送检与产能，延续「感染+血液+质谱」主线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0">
                <a:solidFill>
                  <a:srgbClr val="FFFFFF"/>
                </a:solidFill>
              </a:defRPr>
            </a:pPr>
            <a:r>
              <a:t>杭州公司 · 专线特检经营复盘  |  结语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365D"/>
                </a:solidFill>
              </a:defRPr>
            </a:pPr>
            <a:r>
              <a:t>增长不是偶然，是可复制的组合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666666"/>
                </a:solidFill>
              </a:defRPr>
            </a:pPr>
            <a:r>
              <a:t>重点客户 × 高价值项目 × 标准动作 × 月度复盘</a:t>
            </a:r>
          </a:p>
          <a:p>
            <a:pPr>
              <a:spcAft>
                <a:spcPts val="800"/>
              </a:spcAft>
              <a:defRPr sz="1400">
                <a:solidFill>
                  <a:srgbClr val="666666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666666"/>
                </a:solidFill>
              </a:defRPr>
            </a:pPr>
            <a:r>
              <a:t>客户看重点 — 41家专人专管，普特共管两轮聚焦至71家</a:t>
            </a:r>
          </a:p>
          <a:p>
            <a:pPr>
              <a:spcAft>
                <a:spcPts val="800"/>
              </a:spcAft>
              <a:defRPr sz="1400">
                <a:solidFill>
                  <a:srgbClr val="666666"/>
                </a:solidFill>
              </a:defRPr>
            </a:pPr>
            <a:r>
              <a:t>项目看高价值 — 锁定感染·血液·质谱主线</a:t>
            </a:r>
          </a:p>
          <a:p>
            <a:pPr>
              <a:spcAft>
                <a:spcPts val="800"/>
              </a:spcAft>
              <a:defRPr sz="1400">
                <a:solidFill>
                  <a:srgbClr val="666666"/>
                </a:solidFill>
              </a:defRPr>
            </a:pPr>
            <a:r>
              <a:t>动作看闭环 — 中标→进院→上量→渠道→复盘→护栏</a:t>
            </a:r>
          </a:p>
          <a:p>
            <a:pPr>
              <a:spcAft>
                <a:spcPts val="800"/>
              </a:spcAft>
              <a:defRPr sz="1400">
                <a:solidFill>
                  <a:srgbClr val="666666"/>
                </a:solidFill>
              </a:defRPr>
            </a:pPr>
            <a:r>
              <a:t>组织看匹配 — 减无效挂名，加重点产出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